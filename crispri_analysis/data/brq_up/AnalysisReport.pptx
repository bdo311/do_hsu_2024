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1" r:id="rId5"/>
    <p:sldId id="262" r:id="rId6"/>
    <p:sldId id="265" r:id="rId7"/>
    <p:sldId id="263" r:id="rId8"/>
    <p:sldId id="266" r:id="rId9"/>
    <p:sldId id="264" r:id="rId10"/>
    <p:sldId id="25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390" autoAdjust="0"/>
  </p:normalViewPr>
  <p:slideViewPr>
    <p:cSldViewPr>
      <p:cViewPr varScale="1">
        <p:scale>
          <a:sx n="122" d="100"/>
          <a:sy n="122" d="100"/>
        </p:scale>
        <p:origin x="1014" y="90"/>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3/8/2019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report is automatically generated by metascape.org based</a:t>
            </a:r>
            <a:r>
              <a:rPr lang="en-US" baseline="0" dirty="0" smtClean="0"/>
              <a:t> on the gene lists you submitted and the analyses you specified.</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401006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err="1" smtClean="0"/>
              <a:t>Metascape</a:t>
            </a:r>
            <a:r>
              <a:rPr lang="en-US" dirty="0" smtClean="0"/>
              <a:t> automatically first</a:t>
            </a:r>
            <a:r>
              <a:rPr lang="en-US" baseline="0" dirty="0" smtClean="0"/>
              <a:t> convert you input identifiers (Gene ID, </a:t>
            </a:r>
            <a:r>
              <a:rPr lang="en-US" baseline="0" dirty="0" err="1" smtClean="0"/>
              <a:t>RefSeq</a:t>
            </a:r>
            <a:r>
              <a:rPr lang="en-US" baseline="0" dirty="0" smtClean="0"/>
              <a:t> or Symbol) into Human </a:t>
            </a:r>
            <a:r>
              <a:rPr lang="en-US" baseline="0" dirty="0" err="1" smtClean="0"/>
              <a:t>Entrez</a:t>
            </a:r>
            <a:r>
              <a:rPr lang="en-US" baseline="0" dirty="0" smtClean="0"/>
              <a:t> Gene ID.  Input identifiers can be from human, mouse or rat, </a:t>
            </a:r>
            <a:r>
              <a:rPr lang="en-US" baseline="0" dirty="0" err="1" smtClean="0"/>
              <a:t>ortholog</a:t>
            </a:r>
            <a:r>
              <a:rPr lang="en-US" baseline="0" dirty="0" smtClean="0"/>
              <a:t> mapping into human based on the latest NCBI </a:t>
            </a:r>
            <a:r>
              <a:rPr lang="en-US" baseline="0" dirty="0" err="1" smtClean="0"/>
              <a:t>Homologene</a:t>
            </a:r>
            <a:r>
              <a:rPr lang="en-US" baseline="0" dirty="0" smtClean="0"/>
              <a:t> database is automatically applied.</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  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what your choice during the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then selected a subset of representative terms from this cluster and convert them into a network layout.  More specifically, each term is represented by a circle node, where its size is proportional to the number of input genes fall into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(v3.1.2)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what your choice during the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then selected a subset of representative terms from this cluster and convert them into a network layout.  More specifically, each term is represented by a circle node, where its size is proportional to the number of input genes fall into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(v3.1.2)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  GO enrichment analysis was applied to each MCODE network to assign “meanings” to the network component.</a:t>
            </a:r>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  GO enrichment analysis was applied to each MCODE network to assign “meanings” to the network component.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assign “meanings” to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smtClean="0"/>
          </a:p>
          <a:p>
            <a:r>
              <a:rPr lang="en-US" smtClean="0"/>
              <a:t>If </a:t>
            </a:r>
            <a:r>
              <a:rPr lang="en-US" dirty="0" smtClean="0"/>
              <a:t>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659565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Try</a:t>
            </a:r>
            <a:r>
              <a:rPr lang="en-US" baseline="0" dirty="0" smtClean="0"/>
              <a:t> metascape.org today!</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213490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smtClean="0"/>
              <a:t>Click to edit </a:t>
            </a:r>
            <a:br>
              <a:rPr lang="en-US" dirty="0" smtClean="0"/>
            </a:br>
            <a:r>
              <a:rPr lang="en-US" dirty="0" smtClean="0"/>
              <a:t>Master title style</a:t>
            </a:r>
            <a:endParaRPr lang="en-US" dirty="0"/>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a:t>
            </a:r>
          </a:p>
          <a:p>
            <a:r>
              <a:rPr lang="en-US" dirty="0" smtClean="0"/>
              <a:t>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472488"/>
            <a:ext cx="10972800" cy="458115"/>
          </a:xfrm>
        </p:spPr>
        <p:txBody>
          <a:bodyPr>
            <a:normAutofit/>
          </a:bodyPr>
          <a:lstStyle>
            <a:lvl1pPr algn="l">
              <a:defRPr sz="3600">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
        <p:nvSpPr>
          <p:cNvPr id="10" name="TextBox 9"/>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074F12-AA26-4AC8-9962-C36BB8F32554}" type="datetimeFigureOut">
              <a:rPr lang="en-US" smtClean="0"/>
              <a:pPr/>
              <a:t>3/8/2019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3/8/2019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74F12-AA26-4AC8-9962-C36BB8F32554}" type="datetimeFigureOut">
              <a:rPr lang="en-US" smtClean="0"/>
              <a:pPr/>
              <a:t>3/8/2019</a:t>
            </a:fld>
            <a:endParaRPr lang="en-US"/>
          </a:p>
        </p:txBody>
      </p:sp>
      <p:sp>
        <p:nvSpPr>
          <p:cNvPr id="4" name="Footer Placeholder 3"/>
          <p:cNvSpPr>
            <a:spLocks noGrp="1"/>
          </p:cNvSpPr>
          <p:nvPr>
            <p:ph type="ftr" sz="quarter" idx="11"/>
          </p:nvPr>
        </p:nvSpPr>
        <p:spPr/>
        <p:txBody>
          <a:bodyPr/>
          <a:lstStyle/>
          <a:p>
            <a:r>
              <a:rPr lang="en-US" dirty="0" smtClean="0"/>
              <a:t>Prepared by metascape.org</a:t>
            </a:r>
            <a:endParaRPr lang="en-US" dirty="0"/>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3/8/2019</a:t>
            </a:fld>
            <a:endParaRPr lang="en-US"/>
          </a:p>
        </p:txBody>
      </p:sp>
      <p:sp>
        <p:nvSpPr>
          <p:cNvPr id="3" name="Footer Placeholder 2"/>
          <p:cNvSpPr>
            <a:spLocks noGrp="1"/>
          </p:cNvSpPr>
          <p:nvPr>
            <p:ph type="ftr" sz="quarter" idx="11"/>
          </p:nvPr>
        </p:nvSpPr>
        <p:spPr/>
        <p:txBody>
          <a:bodyPr/>
          <a:lstStyle/>
          <a:p>
            <a:r>
              <a:rPr lang="en-US" dirty="0" smtClean="0"/>
              <a:t>Prepared by metascape.org</a:t>
            </a:r>
            <a:endParaRPr lang="en-US" dirty="0"/>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58923"/>
            <a:ext cx="109728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3/8/2019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metascape.org/gp/index.html#/menu/manua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ctrTitle"/>
          </p:nvPr>
        </p:nvSpPr>
        <p:spPr>
          <a:xfrm>
            <a:off x="3150058" y="1596540"/>
            <a:ext cx="7886581" cy="458115"/>
          </a:xfrm>
          <a:effectLst/>
        </p:spPr>
        <p:txBody>
          <a:bodyPr>
            <a:noAutofit/>
          </a:bodyPr>
          <a:lstStyle/>
          <a:p>
            <a:r>
              <a:rPr lang="en-US" sz="4800" b="1" dirty="0">
                <a:ln>
                  <a:solidFill>
                    <a:schemeClr val="accent1">
                      <a:lumMod val="20000"/>
                      <a:lumOff val="80000"/>
                    </a:schemeClr>
                  </a:solidFill>
                </a:ln>
                <a:solidFill>
                  <a:schemeClr val="bg1">
                    <a:lumMod val="95000"/>
                  </a:schemeClr>
                </a:solidFill>
                <a:effectLst>
                  <a:glow rad="101600">
                    <a:schemeClr val="tx2">
                      <a:alpha val="60000"/>
                    </a:schemeClr>
                  </a:glow>
                </a:effectLst>
              </a:rPr>
              <a:t>Gene List Analysis </a:t>
            </a:r>
            <a:r>
              <a:rPr lang="en-US" sz="4800" b="1" dirty="0" smtClean="0">
                <a:ln>
                  <a:solidFill>
                    <a:schemeClr val="accent1">
                      <a:lumMod val="20000"/>
                      <a:lumOff val="80000"/>
                    </a:schemeClr>
                  </a:solidFill>
                </a:ln>
                <a:solidFill>
                  <a:schemeClr val="bg1">
                    <a:lumMod val="95000"/>
                  </a:schemeClr>
                </a:solidFill>
                <a:effectLst>
                  <a:glow rad="101600">
                    <a:schemeClr val="tx2">
                      <a:alpha val="60000"/>
                    </a:schemeClr>
                  </a:glow>
                </a:effectLst>
              </a:rPr>
              <a:t>Report</a:t>
            </a:r>
            <a:endParaRPr lang="en-US" sz="4800" b="1" dirty="0">
              <a:ln>
                <a:solidFill>
                  <a:schemeClr val="accent1">
                    <a:lumMod val="20000"/>
                    <a:lumOff val="80000"/>
                  </a:schemeClr>
                </a:solidFill>
              </a:ln>
              <a:solidFill>
                <a:schemeClr val="bg1">
                  <a:lumMod val="95000"/>
                </a:schemeClr>
              </a:solidFill>
              <a:effectLst>
                <a:glow rad="101600">
                  <a:schemeClr val="tx2">
                    <a:alpha val="60000"/>
                  </a:schemeClr>
                </a:glow>
              </a:effectLst>
            </a:endParaRPr>
          </a:p>
        </p:txBody>
      </p:sp>
      <p:sp>
        <p:nvSpPr>
          <p:cNvPr id="10" name="TextBox 9"/>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1" name="Oval Callout 10"/>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solidFill>
                  <a:schemeClr val="bg1">
                    <a:lumMod val="95000"/>
                  </a:schemeClr>
                </a:solidFill>
              </a:rPr>
              <a:t>Hint: Each slide has notes that explain the analysis!</a:t>
            </a:r>
          </a:p>
        </p:txBody>
      </p:sp>
      <p:sp>
        <p:nvSpPr>
          <p:cNvPr id="12" name="TextBox 11"/>
          <p:cNvSpPr txBox="1"/>
          <p:nvPr/>
        </p:nvSpPr>
        <p:spPr>
          <a:xfrm>
            <a:off x="10053036"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Nov 26, 2021</a:t>
            </a:r>
            <a:endParaRPr lang="en-US" b="1" dirty="0">
              <a:solidFill>
                <a:schemeClr val="bg1">
                  <a:lumMod val="9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9203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5497380" cy="1068935"/>
          </a:xfrm>
        </p:spPr>
        <p:txBody>
          <a:bodyPr>
            <a:normAutofit/>
          </a:bodyPr>
          <a:lstStyle/>
          <a:p>
            <a:r>
              <a:rPr lang="en-US" sz="4000" b="1" dirty="0" smtClean="0">
                <a:ln w="3175" cap="rnd">
                  <a:solidFill>
                    <a:schemeClr val="accent1">
                      <a:lumMod val="20000"/>
                      <a:lumOff val="80000"/>
                    </a:schemeClr>
                  </a:solidFill>
                  <a:round/>
                </a:ln>
              </a:rPr>
              <a:t>Gene List Summary</a:t>
            </a:r>
            <a:endParaRPr lang="en-US" sz="4000" b="1" dirty="0">
              <a:ln w="3175" cap="rnd">
                <a:solidFill>
                  <a:schemeClr val="accent1">
                    <a:lumMod val="20000"/>
                    <a:lumOff val="80000"/>
                  </a:schemeClr>
                </a:solidFill>
                <a:round/>
              </a:ln>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500 identifiers, 500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5" name="Rectangle 4"/>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5497380" cy="1068935"/>
          </a:xfrm>
        </p:spPr>
        <p:txBody>
          <a:bodyPr>
            <a:normAutofit/>
          </a:bodyPr>
          <a:lstStyle/>
          <a:p>
            <a:r>
              <a:rPr lang="en-US" sz="4000" b="1" dirty="0" smtClean="0">
                <a:ln w="3175" cap="rnd">
                  <a:solidFill>
                    <a:schemeClr val="accent1">
                      <a:lumMod val="20000"/>
                      <a:lumOff val="80000"/>
                    </a:schemeClr>
                  </a:solidFill>
                  <a:round/>
                </a:ln>
              </a:rPr>
              <a:t>Membership Analysis</a:t>
            </a:r>
            <a:endParaRPr lang="en-US" sz="4000" b="1" dirty="0">
              <a:ln w="3175" cap="rnd">
                <a:solidFill>
                  <a:schemeClr val="accent1">
                    <a:lumMod val="20000"/>
                    <a:lumOff val="80000"/>
                  </a:schemeClr>
                </a:solidFill>
                <a:round/>
              </a:ln>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7329840" cy="1068935"/>
          </a:xfrm>
        </p:spPr>
        <p:txBody>
          <a:bodyPr>
            <a:noAutofit/>
          </a:bodyPr>
          <a:lstStyle/>
          <a:p>
            <a:r>
              <a:rPr lang="en-US" sz="4000" b="1" dirty="0" smtClean="0">
                <a:ln w="3175" cap="rnd">
                  <a:solidFill>
                    <a:schemeClr val="accent1">
                      <a:lumMod val="20000"/>
                      <a:lumOff val="80000"/>
                    </a:schemeClr>
                  </a:solidFill>
                  <a:round/>
                </a:ln>
              </a:rPr>
              <a:t>Enriched Ontology Clusters</a:t>
            </a:r>
            <a:endParaRPr lang="en-US" sz="4000" b="1" dirty="0">
              <a:ln w="3175" cap="rnd">
                <a:solidFill>
                  <a:schemeClr val="accent1">
                    <a:lumMod val="20000"/>
                    <a:lumOff val="80000"/>
                  </a:schemeClr>
                </a:solidFill>
                <a:round/>
              </a:ln>
            </a:endParaRPr>
          </a:p>
        </p:txBody>
      </p:sp>
      <p:pic>
        <p:nvPicPr>
          <p:cNvPr id="3" name="Picture 2" descr="HeatmapSelectedGO.png"/>
          <p:cNvPicPr>
            <a:picLocks noChangeAspect="1"/>
          </p:cNvPicPr>
          <p:nvPr/>
        </p:nvPicPr>
        <p:blipFill>
          <a:blip r:embed="rId3"/>
          <a:stretch>
            <a:fillRect/>
          </a:stretch>
        </p:blipFill>
        <p:spPr>
          <a:xfrm>
            <a:off x="640080" y="1706345"/>
            <a:ext cx="10911535" cy="5038881"/>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4" y="69491"/>
            <a:ext cx="7177135" cy="1068935"/>
          </a:xfrm>
        </p:spPr>
        <p:txBody>
          <a:bodyPr>
            <a:normAutofit/>
          </a:bodyPr>
          <a:lstStyle/>
          <a:p>
            <a:r>
              <a:rPr lang="en-US" sz="4000" b="1" dirty="0" smtClean="0">
                <a:ln w="3175" cap="rnd">
                  <a:solidFill>
                    <a:schemeClr val="accent1">
                      <a:lumMod val="20000"/>
                      <a:lumOff val="80000"/>
                    </a:schemeClr>
                  </a:solidFill>
                  <a:round/>
                </a:ln>
              </a:rPr>
              <a:t>Enriched Ontology Clusters</a:t>
            </a:r>
            <a:br>
              <a:rPr lang="en-US" sz="4000" b="1" dirty="0" smtClean="0">
                <a:ln w="3175" cap="rnd">
                  <a:solidFill>
                    <a:schemeClr val="accent1">
                      <a:lumMod val="20000"/>
                      <a:lumOff val="80000"/>
                    </a:schemeClr>
                  </a:solidFill>
                  <a:round/>
                </a:ln>
              </a:rPr>
            </a:br>
            <a:r>
              <a:rPr lang="en-US" sz="2200" b="1" dirty="0" smtClean="0">
                <a:ln w="3175" cap="rnd">
                  <a:solidFill>
                    <a:schemeClr val="accent1">
                      <a:lumMod val="20000"/>
                      <a:lumOff val="80000"/>
                    </a:schemeClr>
                  </a:solidFill>
                  <a:round/>
                </a:ln>
              </a:rPr>
              <a:t>Colored </a:t>
            </a:r>
            <a:r>
              <a:rPr lang="en-US" sz="2200" b="1" dirty="0">
                <a:ln w="3175" cap="rnd">
                  <a:solidFill>
                    <a:schemeClr val="accent1">
                      <a:lumMod val="20000"/>
                      <a:lumOff val="80000"/>
                    </a:schemeClr>
                  </a:solidFill>
                  <a:round/>
                </a:ln>
              </a:rPr>
              <a:t>by </a:t>
            </a:r>
            <a:r>
              <a:rPr lang="en-US" sz="2200" b="1" dirty="0" smtClean="0">
                <a:ln w="3175" cap="rnd">
                  <a:solidFill>
                    <a:schemeClr val="accent1">
                      <a:lumMod val="20000"/>
                      <a:lumOff val="80000"/>
                    </a:schemeClr>
                  </a:solidFill>
                  <a:round/>
                </a:ln>
              </a:rPr>
              <a:t>Cluster </a:t>
            </a:r>
            <a:r>
              <a:rPr lang="en-US" sz="2200" b="1" dirty="0">
                <a:ln w="3175" cap="rnd">
                  <a:solidFill>
                    <a:schemeClr val="accent1">
                      <a:lumMod val="20000"/>
                      <a:lumOff val="80000"/>
                    </a:schemeClr>
                  </a:solidFill>
                  <a:round/>
                </a:ln>
              </a:rPr>
              <a:t>ID</a:t>
            </a:r>
          </a:p>
        </p:txBody>
      </p:sp>
      <p:pic>
        <p:nvPicPr>
          <p:cNvPr id="3" name="Picture 2" descr="ColorByCluster.png"/>
          <p:cNvPicPr>
            <a:picLocks noChangeAspect="1"/>
          </p:cNvPicPr>
          <p:nvPr/>
        </p:nvPicPr>
        <p:blipFill>
          <a:blip r:embed="rId3"/>
          <a:stretch>
            <a:fillRect/>
          </a:stretch>
        </p:blipFill>
        <p:spPr>
          <a:xfrm>
            <a:off x="3246770" y="1665465"/>
            <a:ext cx="5698155" cy="5120640"/>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7329840" cy="1068935"/>
          </a:xfrm>
        </p:spPr>
        <p:txBody>
          <a:bodyPr>
            <a:normAutofit/>
          </a:bodyPr>
          <a:lstStyle/>
          <a:p>
            <a:r>
              <a:rPr lang="en-US" sz="4000" b="1" dirty="0" smtClean="0">
                <a:ln w="3175" cap="rnd">
                  <a:solidFill>
                    <a:schemeClr val="accent1">
                      <a:lumMod val="20000"/>
                      <a:lumOff val="80000"/>
                    </a:schemeClr>
                  </a:solidFill>
                  <a:round/>
                </a:ln>
              </a:rPr>
              <a:t>Enriched Ontology Clusters</a:t>
            </a:r>
            <a:r>
              <a:rPr lang="en-US" b="1" dirty="0" smtClean="0">
                <a:ln w="3175" cap="rnd">
                  <a:solidFill>
                    <a:schemeClr val="accent1">
                      <a:lumMod val="20000"/>
                      <a:lumOff val="80000"/>
                    </a:schemeClr>
                  </a:solidFill>
                  <a:round/>
                </a:ln>
              </a:rPr>
              <a:t/>
            </a:r>
            <a:br>
              <a:rPr lang="en-US" b="1" dirty="0" smtClean="0">
                <a:ln w="3175" cap="rnd">
                  <a:solidFill>
                    <a:schemeClr val="accent1">
                      <a:lumMod val="20000"/>
                      <a:lumOff val="80000"/>
                    </a:schemeClr>
                  </a:solidFill>
                  <a:round/>
                </a:ln>
              </a:rPr>
            </a:br>
            <a:r>
              <a:rPr lang="en-US" sz="2200" b="1" dirty="0" smtClean="0">
                <a:ln w="3175" cap="rnd">
                  <a:solidFill>
                    <a:schemeClr val="accent1">
                      <a:lumMod val="20000"/>
                      <a:lumOff val="80000"/>
                    </a:schemeClr>
                  </a:solidFill>
                  <a:round/>
                </a:ln>
              </a:rPr>
              <a:t>Colored </a:t>
            </a:r>
            <a:r>
              <a:rPr lang="en-US" sz="2200" b="1" dirty="0">
                <a:ln w="3175" cap="rnd">
                  <a:solidFill>
                    <a:schemeClr val="accent1">
                      <a:lumMod val="20000"/>
                      <a:lumOff val="80000"/>
                    </a:schemeClr>
                  </a:solidFill>
                  <a:round/>
                </a:ln>
              </a:rPr>
              <a:t>by </a:t>
            </a:r>
            <a:r>
              <a:rPr lang="en-US" sz="2200" b="1" dirty="0" smtClean="0">
                <a:ln w="3175" cap="rnd">
                  <a:solidFill>
                    <a:schemeClr val="accent1">
                      <a:lumMod val="20000"/>
                      <a:lumOff val="80000"/>
                    </a:schemeClr>
                  </a:solidFill>
                  <a:round/>
                </a:ln>
              </a:rPr>
              <a:t>p-Value</a:t>
            </a:r>
            <a:endParaRPr lang="en-US" sz="2200" b="1" dirty="0">
              <a:ln w="3175" cap="rnd">
                <a:solidFill>
                  <a:schemeClr val="accent1">
                    <a:lumMod val="20000"/>
                    <a:lumOff val="80000"/>
                  </a:schemeClr>
                </a:solidFill>
                <a:round/>
              </a:ln>
            </a:endParaRPr>
          </a:p>
        </p:txBody>
      </p:sp>
      <p:pic>
        <p:nvPicPr>
          <p:cNvPr id="3" name="Picture 2" descr="ColorByPValue.png"/>
          <p:cNvPicPr>
            <a:picLocks noChangeAspect="1"/>
          </p:cNvPicPr>
          <p:nvPr/>
        </p:nvPicPr>
        <p:blipFill>
          <a:blip r:embed="rId3"/>
          <a:stretch>
            <a:fillRect/>
          </a:stretch>
        </p:blipFill>
        <p:spPr>
          <a:xfrm>
            <a:off x="3257464" y="1665465"/>
            <a:ext cx="5676766" cy="5120640"/>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4" y="69491"/>
            <a:ext cx="9009596" cy="1068935"/>
          </a:xfrm>
        </p:spPr>
        <p:txBody>
          <a:bodyPr>
            <a:noAutofit/>
          </a:bodyPr>
          <a:lstStyle/>
          <a:p>
            <a:r>
              <a:rPr lang="en-US" sz="4000" b="1" dirty="0" smtClean="0">
                <a:ln w="3175" cap="rnd">
                  <a:solidFill>
                    <a:schemeClr val="accent1">
                      <a:lumMod val="20000"/>
                      <a:lumOff val="80000"/>
                    </a:schemeClr>
                  </a:solidFill>
                  <a:round/>
                </a:ln>
              </a:rPr>
              <a:t>Protein-protein Interaction Network</a:t>
            </a:r>
            <a:endParaRPr lang="en-US" sz="4000" b="1" dirty="0">
              <a:ln w="3175" cap="rnd">
                <a:solidFill>
                  <a:schemeClr val="accent1">
                    <a:lumMod val="20000"/>
                    <a:lumOff val="80000"/>
                  </a:schemeClr>
                </a:solidFill>
                <a:round/>
              </a:ln>
            </a:endParaRPr>
          </a:p>
        </p:txBody>
      </p:sp>
      <p:pic>
        <p:nvPicPr>
          <p:cNvPr id="3" name="Picture 2" descr="MyList_PPIColorByCluster.png"/>
          <p:cNvPicPr>
            <a:picLocks noChangeAspect="1"/>
          </p:cNvPicPr>
          <p:nvPr/>
        </p:nvPicPr>
        <p:blipFill>
          <a:blip r:embed="rId3"/>
          <a:stretch>
            <a:fillRect/>
          </a:stretch>
        </p:blipFill>
        <p:spPr>
          <a:xfrm>
            <a:off x="2771923" y="1665465"/>
            <a:ext cx="6647848"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4" y="69491"/>
            <a:ext cx="7177135" cy="1068935"/>
          </a:xfrm>
        </p:spPr>
        <p:txBody>
          <a:bodyPr>
            <a:noAutofit/>
          </a:bodyPr>
          <a:lstStyle/>
          <a:p>
            <a:r>
              <a:rPr lang="en-US" sz="4000" b="1" dirty="0" smtClean="0">
                <a:ln w="3175" cap="rnd">
                  <a:solidFill>
                    <a:schemeClr val="accent1">
                      <a:lumMod val="20000"/>
                      <a:lumOff val="80000"/>
                    </a:schemeClr>
                  </a:solidFill>
                  <a:round/>
                </a:ln>
              </a:rPr>
              <a:t>PPI MCODE Components</a:t>
            </a:r>
            <a:endParaRPr lang="en-US" sz="4000" b="1" dirty="0">
              <a:ln w="3175" cap="rnd">
                <a:solidFill>
                  <a:schemeClr val="accent1">
                    <a:lumMod val="20000"/>
                    <a:lumOff val="80000"/>
                  </a:schemeClr>
                </a:solidFill>
                <a:round/>
              </a:ln>
            </a:endParaRPr>
          </a:p>
        </p:txBody>
      </p:sp>
      <p:pic>
        <p:nvPicPr>
          <p:cNvPr id="3" name="Picture 2" descr="MyList_MCODE_ALL_PPIColorByCluster.png"/>
          <p:cNvPicPr>
            <a:picLocks noChangeAspect="1"/>
          </p:cNvPicPr>
          <p:nvPr/>
        </p:nvPicPr>
        <p:blipFill>
          <a:blip r:embed="rId3"/>
          <a:stretch>
            <a:fillRect/>
          </a:stretch>
        </p:blipFill>
        <p:spPr>
          <a:xfrm>
            <a:off x="3088861" y="1665465"/>
            <a:ext cx="6013973" cy="5120640"/>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5497380" cy="1068935"/>
          </a:xfrm>
        </p:spPr>
        <p:txBody>
          <a:bodyPr>
            <a:normAutofit fontScale="90000"/>
          </a:bodyPr>
          <a:lstStyle/>
          <a:p>
            <a:r>
              <a:rPr lang="en-US" sz="4000" b="1" dirty="0" smtClean="0">
                <a:ln w="3175" cap="rnd">
                  <a:solidFill>
                    <a:schemeClr val="accent1">
                      <a:lumMod val="20000"/>
                      <a:lumOff val="80000"/>
                    </a:schemeClr>
                  </a:solidFill>
                  <a:round/>
                </a:ln>
              </a:rPr>
              <a:t>Biological Interpretation</a:t>
            </a:r>
            <a:br>
              <a:rPr lang="en-US" sz="4000" b="1" dirty="0" smtClean="0">
                <a:ln w="3175" cap="rnd">
                  <a:solidFill>
                    <a:schemeClr val="accent1">
                      <a:lumMod val="20000"/>
                      <a:lumOff val="80000"/>
                    </a:schemeClr>
                  </a:solidFill>
                  <a:round/>
                </a:ln>
              </a:rPr>
            </a:br>
            <a:r>
              <a:rPr lang="en-US" sz="2400" b="1" dirty="0">
                <a:ln w="3175" cap="rnd">
                  <a:solidFill>
                    <a:schemeClr val="accent1">
                      <a:lumMod val="20000"/>
                      <a:lumOff val="80000"/>
                    </a:schemeClr>
                  </a:solidFill>
                  <a:round/>
                </a:ln>
              </a:rPr>
              <a:t>PPI Network &amp; MCODE Components</a:t>
            </a:r>
          </a:p>
        </p:txBody>
      </p:sp>
      <p:graphicFrame>
        <p:nvGraphicFramePr>
          <p:cNvPr id="3" name="Table 2"/>
          <p:cNvGraphicFramePr>
            <a:graphicFrameLocks noGrp="1"/>
          </p:cNvGraphicFramePr>
          <p:nvPr/>
        </p:nvGraphicFramePr>
        <p:xfrm>
          <a:off x="640080" y="1665465"/>
          <a:ext cx="10911535" cy="4904545"/>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393895">
                <a:tc>
                  <a:txBody>
                    <a:bodyPr/>
                    <a:lstStyle/>
                    <a:p>
                      <a:r>
                        <a:t>MyList</a:t>
                      </a:r>
                    </a:p>
                  </a:txBody>
                  <a:tcPr/>
                </a:tc>
                <a:tc>
                  <a:txBody>
                    <a:bodyPr/>
                    <a:lstStyle/>
                    <a:p>
                      <a:r>
                        <a:t>GO:0022613|ribonucleoprotein complex biogenesis|-88.1;GO:0042254|ribosome biogenesis|-82.5;R-HSA-8953854|Metabolism of RNA|-77.6</a:t>
                      </a:r>
                    </a:p>
                  </a:txBody>
                  <a:tcPr/>
                </a:tc>
              </a:tr>
              <a:tr h="393895">
                <a:tc>
                  <a:txBody>
                    <a:bodyPr/>
                    <a:lstStyle/>
                    <a:p>
                      <a:r>
                        <a:t>MyList_MCODE_ALL</a:t>
                      </a:r>
                    </a:p>
                  </a:txBody>
                  <a:tcPr/>
                </a:tc>
                <a:tc>
                  <a:txBody>
                    <a:bodyPr/>
                    <a:lstStyle/>
                    <a:p>
                      <a:r>
                        <a:t>GO:0042254|ribosome biogenesis|-92.2;GO:0022613|ribonucleoprotein complex biogenesis|-92.2;R-HSA-8953854|Metabolism of RNA|-82.1</a:t>
                      </a:r>
                    </a:p>
                  </a:txBody>
                  <a:tcPr/>
                </a:tc>
              </a:tr>
              <a:tr h="393895">
                <a:tc>
                  <a:txBody>
                    <a:bodyPr/>
                    <a:lstStyle/>
                    <a:p>
                      <a:r>
                        <a:t>MyList_SUB1_MCODE_1</a:t>
                      </a:r>
                    </a:p>
                  </a:txBody>
                  <a:tcPr/>
                </a:tc>
                <a:tc>
                  <a:txBody>
                    <a:bodyPr/>
                    <a:lstStyle/>
                    <a:p>
                      <a:r>
                        <a:t>CORUM:230|Mediator complex|-23.9;R-HSA-69242|S Phase|-21.6;R-HSA-69278|Cell Cycle, Mitotic|-21.0</a:t>
                      </a:r>
                    </a:p>
                  </a:txBody>
                  <a:tcPr/>
                </a:tc>
              </a:tr>
              <a:tr h="393895">
                <a:tc>
                  <a:txBody>
                    <a:bodyPr/>
                    <a:lstStyle/>
                    <a:p>
                      <a:r>
                        <a:t>MyList_SUB1_MCODE_2</a:t>
                      </a:r>
                    </a:p>
                  </a:txBody>
                  <a:tcPr/>
                </a:tc>
                <a:tc>
                  <a:txBody>
                    <a:bodyPr/>
                    <a:lstStyle/>
                    <a:p>
                      <a:r>
                        <a:t>R-HSA-5419276|Mitochondrial translation termination|-48.7;R-HSA-5389840|Mitochondrial translation elongation|-48.7;R-HSA-5368286|Mitochondrial translation initiation|-48.7</a:t>
                      </a:r>
                    </a:p>
                  </a:txBody>
                  <a:tcPr/>
                </a:tc>
              </a:tr>
              <a:tr h="393895">
                <a:tc>
                  <a:txBody>
                    <a:bodyPr/>
                    <a:lstStyle/>
                    <a:p>
                      <a:r>
                        <a:t>MyList_SUB1_MCODE_3</a:t>
                      </a:r>
                    </a:p>
                  </a:txBody>
                  <a:tcPr/>
                </a:tc>
                <a:tc>
                  <a:txBody>
                    <a:bodyPr/>
                    <a:lstStyle/>
                    <a:p>
                      <a:r>
                        <a:t>R-HSA-8868773|rRNA processing in the nucleus and cytosol|-91.2;R-HSA-72312|rRNA processing|-90.2;R-HSA-6791226|Major pathway of rRNA processing in the nucleolus and cytosol|-89.1</a:t>
                      </a:r>
                    </a:p>
                  </a:txBody>
                  <a:tcPr/>
                </a:tc>
              </a:tr>
              <a:tr h="393895">
                <a:tc>
                  <a:txBody>
                    <a:bodyPr/>
                    <a:lstStyle/>
                    <a:p>
                      <a:r>
                        <a:t>MyList_SUB1_MCODE_4</a:t>
                      </a:r>
                    </a:p>
                  </a:txBody>
                  <a:tcPr/>
                </a:tc>
                <a:tc>
                  <a:txBody>
                    <a:bodyPr/>
                    <a:lstStyle/>
                    <a:p>
                      <a:r>
                        <a:t>CORUM:6664|STAGA complex, SPT3-linked|-18.3;R-HSA-1640170|Cell Cycle|-16.8;CORUM:6643|SAGA complex, GCN5-linked|-15.5</a:t>
                      </a:r>
                    </a:p>
                  </a:txBody>
                  <a:tcPr/>
                </a:tc>
              </a:tr>
              <a:tr h="393895">
                <a:tc>
                  <a:txBody>
                    <a:bodyPr/>
                    <a:lstStyle/>
                    <a:p>
                      <a:r>
                        <a:t>MyList_SUB1_MCODE_5</a:t>
                      </a:r>
                    </a:p>
                  </a:txBody>
                  <a:tcPr/>
                </a:tc>
                <a:tc>
                  <a:txBody>
                    <a:bodyPr/>
                    <a:lstStyle/>
                    <a:p>
                      <a:r>
                        <a:t>R-HSA-1640170|Cell Cycle|-14.1;R-HSA-6807505|RNA polymerase II transcribes snRNA genes|-11.7;R-HSA-69620|Cell Cycle Checkpoints|-10.5</a:t>
                      </a:r>
                    </a:p>
                  </a:txBody>
                  <a:tcPr/>
                </a:tc>
              </a:tr>
              <a:tr h="393895">
                <a:tc>
                  <a:txBody>
                    <a:bodyPr/>
                    <a:lstStyle/>
                    <a:p>
                      <a:r>
                        <a:t>MyList_SUB1_MCODE_6</a:t>
                      </a:r>
                    </a:p>
                  </a:txBody>
                  <a:tcPr/>
                </a:tc>
                <a:tc>
                  <a:txBody>
                    <a:bodyPr/>
                    <a:lstStyle/>
                    <a:p>
                      <a:r>
                        <a:t>R-HSA-8941856|RUNX3 regulates NOTCH signaling|-7.0;R-HSA-210744|Regulation of gene expression in late stage (branching morphogenesis) pancreatic bud precursor cells|-6.8;GO:0018205|peptidyl-lysine modification|-6.8</a:t>
                      </a:r>
                    </a:p>
                  </a:txBody>
                  <a:tcPr/>
                </a:tc>
              </a:tr>
              <a:tr h="393895">
                <a:tc>
                  <a:txBody>
                    <a:bodyPr/>
                    <a:lstStyle/>
                    <a:p>
                      <a:r>
                        <a:t>MyList_SUB1_MCODE_7</a:t>
                      </a:r>
                    </a:p>
                  </a:txBody>
                  <a:tcPr/>
                </a:tc>
                <a:tc>
                  <a:txBody>
                    <a:bodyPr/>
                    <a:lstStyle/>
                    <a:p>
                      <a:r>
                        <a:t>R-HSA-3700989|Transcriptional Regulation by TP53|-5.4;GO:0043488|regulation of mRNA stability|-4.8;GO:0061013|regulation of mRNA catabolic process|-4.7</a:t>
                      </a:r>
                    </a:p>
                  </a:txBody>
                  <a:tcPr/>
                </a:tc>
              </a:tr>
              <a:tr h="393895">
                <a:tc>
                  <a:txBody>
                    <a:bodyPr/>
                    <a:lstStyle/>
                    <a:p>
                      <a:r>
                        <a:t>MyList_SUB1_MCODE_8</a:t>
                      </a:r>
                    </a:p>
                  </a:txBody>
                  <a:tcPr/>
                </a:tc>
                <a:tc>
                  <a:txBody>
                    <a:bodyPr/>
                    <a:lstStyle/>
                    <a:p>
                      <a:r>
                        <a:t>GO:0042254|ribosome biogenesis|-12.5;GO:0022613|ribonucleoprotein complex biogenesis|-11.2;GO:0006364|rRNA processing|-10.9</a:t>
                      </a:r>
                    </a:p>
                  </a:txBody>
                  <a:tcPr/>
                </a:tc>
              </a:tr>
              <a:tr h="393895">
                <a:tc>
                  <a:txBody>
                    <a:bodyPr/>
                    <a:lstStyle/>
                    <a:p>
                      <a:r>
                        <a:t>MyList_SUB1_MCODE_10</a:t>
                      </a:r>
                    </a:p>
                  </a:txBody>
                  <a:tcPr/>
                </a:tc>
                <a:tc>
                  <a:txBody>
                    <a:bodyPr/>
                    <a:lstStyle/>
                    <a:p>
                      <a:r>
                        <a:t>R-HSA-8939243|RUNX1 interacts with co-factors whose precise effect on RUNX1 targets is not known|-11.0;R-HSA-8878171|Transcriptional regulation by RUNX1|-10.5;CORUM:564|BAF complex|-9.9</a:t>
                      </a:r>
                    </a:p>
                  </a:txBody>
                  <a:tcPr/>
                </a:tc>
              </a:tr>
              <a:tr h="393900">
                <a:tc>
                  <a:txBody>
                    <a:bodyPr/>
                    <a:lstStyle/>
                    <a:p>
                      <a:r>
                        <a:t>MyList_SUB1_MCODE_11</a:t>
                      </a:r>
                    </a:p>
                  </a:txBody>
                  <a:tcPr/>
                </a:tc>
                <a:tc>
                  <a:txBody>
                    <a:bodyPr/>
                    <a:lstStyle/>
                    <a:p>
                      <a:r>
                        <a:t>M279|PID RB 1PATHWAY|-8.0;R-HSA-2262752|Cellular responses to stress|-4.8;R-HSA-8953897|Cellular responses to stimuli|-4.8</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5497380" cy="1068935"/>
          </a:xfrm>
        </p:spPr>
        <p:txBody>
          <a:bodyPr>
            <a:normAutofit/>
          </a:bodyPr>
          <a:lstStyle/>
          <a:p>
            <a:r>
              <a:rPr lang="en-US" sz="4000" b="1" dirty="0" smtClean="0">
                <a:ln w="3175" cap="rnd">
                  <a:solidFill>
                    <a:schemeClr val="accent1">
                      <a:lumMod val="20000"/>
                      <a:lumOff val="80000"/>
                    </a:schemeClr>
                  </a:solidFill>
                  <a:round/>
                </a:ln>
              </a:rPr>
              <a:t>Evidence Weighting</a:t>
            </a:r>
            <a:br>
              <a:rPr lang="en-US" sz="4000" b="1" dirty="0" smtClean="0">
                <a:ln w="3175" cap="rnd">
                  <a:solidFill>
                    <a:schemeClr val="accent1">
                      <a:lumMod val="20000"/>
                      <a:lumOff val="80000"/>
                    </a:schemeClr>
                  </a:solidFill>
                  <a:round/>
                </a:ln>
              </a:rPr>
            </a:br>
            <a:r>
              <a:rPr lang="en-US" sz="2200" b="1" dirty="0">
                <a:ln w="3175" cap="rnd">
                  <a:solidFill>
                    <a:schemeClr val="accent1">
                      <a:lumMod val="20000"/>
                      <a:lumOff val="80000"/>
                    </a:schemeClr>
                  </a:solidFill>
                  <a:round/>
                </a:ln>
              </a:rPr>
              <a:t>by Machine Learning Approach</a:t>
            </a:r>
          </a:p>
        </p:txBody>
      </p:sp>
    </p:spTree>
    <p:extLst>
      <p:ext uri="{BB962C8B-B14F-4D97-AF65-F5344CB8AC3E}">
        <p14:creationId xmlns:p14="http://schemas.microsoft.com/office/powerpoint/2010/main" val="2895010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1291130"/>
            <a:ext cx="1514850" cy="55668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Callout 8"/>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solidFill>
                  <a:schemeClr val="bg1"/>
                </a:solidFill>
                <a:effectLst/>
              </a:rPr>
              <a:t>Hint: If you have multiple related gene lists, upload them in one Excel file will trigger meta analyses.</a:t>
            </a:r>
          </a:p>
        </p:txBody>
      </p:sp>
      <p:sp>
        <p:nvSpPr>
          <p:cNvPr id="10" name="TextBox 9"/>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1" name="Rectangle 10"/>
          <p:cNvSpPr/>
          <p:nvPr/>
        </p:nvSpPr>
        <p:spPr>
          <a:xfrm>
            <a:off x="2125670" y="1997073"/>
            <a:ext cx="9318056" cy="4154984"/>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marL="285750" indent="-285750">
              <a:buFont typeface="Arial" panose="020B0604020202020204" pitchFamily="34" charset="0"/>
              <a:buChar char="•"/>
            </a:pPr>
            <a:endParaRPr lang="en-US" sz="2400" dirty="0">
              <a:solidFill>
                <a:schemeClr val="accent1">
                  <a:lumMod val="75000"/>
                </a:schemeClr>
              </a:solidFill>
              <a:latin typeface="Arial" panose="020B0604020202020204" pitchFamily="34" charset="0"/>
              <a:cs typeface="Arial" panose="020B0604020202020204" pitchFamily="34" charset="0"/>
            </a:endParaRPr>
          </a:p>
          <a:p>
            <a:r>
              <a:rPr lang="en-US" sz="2400" b="1" dirty="0">
                <a:solidFill>
                  <a:schemeClr val="accent1">
                    <a:lumMod val="75000"/>
                  </a:schemeClr>
                </a:solidFill>
                <a:latin typeface="Arial" panose="020B0604020202020204" pitchFamily="34" charset="0"/>
                <a:cs typeface="Arial" panose="020B0604020202020204" pitchFamily="34" charset="0"/>
              </a:rPr>
              <a:t>Best 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err="1">
                <a:solidFill>
                  <a:schemeClr val="accent1">
                    <a:lumMod val="75000"/>
                  </a:schemeClr>
                </a:solidFill>
                <a:latin typeface="Arial" panose="020B0604020202020204" pitchFamily="34" charset="0"/>
                <a:cs typeface="Arial" panose="020B0604020202020204" pitchFamily="34" charset="0"/>
              </a:rPr>
              <a:t>interactome</a:t>
            </a:r>
            <a:r>
              <a:rPr lang="en-US" sz="2400" dirty="0">
                <a:solidFill>
                  <a:schemeClr val="accent1">
                    <a:lumMod val="75000"/>
                  </a:schemeClr>
                </a:solidFill>
                <a:latin typeface="Arial" panose="020B0604020202020204" pitchFamily="34" charset="0"/>
                <a:cs typeface="Arial" panose="020B0604020202020204" pitchFamily="34" charset="0"/>
              </a:rPr>
              <a:t> 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organisms</a:t>
            </a:r>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1101633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1525</TotalTime>
  <Words>1291</Words>
  <Application>Microsoft Office PowerPoint</Application>
  <PresentationFormat>Widescreen</PresentationFormat>
  <Paragraphs>68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Gene List Analysis Report</vt:lpstr>
      <vt:lpstr>Gene List Summary</vt:lpstr>
      <vt:lpstr>Membership Analysis</vt:lpstr>
      <vt:lpstr>Enriched Ontology Clusters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49</cp:revision>
  <dcterms:created xsi:type="dcterms:W3CDTF">2013-08-21T19:17:07Z</dcterms:created>
  <dcterms:modified xsi:type="dcterms:W3CDTF">2019-03-08T17:25:31Z</dcterms:modified>
</cp:coreProperties>
</file>